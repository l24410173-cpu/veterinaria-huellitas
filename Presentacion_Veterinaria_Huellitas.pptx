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73" r:id="rId3"/>
    <p:sldId id="259" r:id="rId4"/>
    <p:sldId id="260" r:id="rId5"/>
    <p:sldId id="272" r:id="rId6"/>
    <p:sldId id="262" r:id="rId7"/>
    <p:sldId id="263" r:id="rId8"/>
    <p:sldId id="266" r:id="rId9"/>
    <p:sldId id="269" r:id="rId10"/>
    <p:sldId id="267" r:id="rId11"/>
    <p:sldId id="274" r:id="rId12"/>
    <p:sldId id="275" r:id="rId13"/>
    <p:sldId id="268" r:id="rId14"/>
    <p:sldId id="276" r:id="rId15"/>
    <p:sldId id="271" r:id="rId1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0945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94" autoAdjust="0"/>
    <p:restoredTop sz="94660"/>
  </p:normalViewPr>
  <p:slideViewPr>
    <p:cSldViewPr snapToGrid="0">
      <p:cViewPr varScale="1">
        <p:scale>
          <a:sx n="74" d="100"/>
          <a:sy n="74" d="100"/>
        </p:scale>
        <p:origin x="4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398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9027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2558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6512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89678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3504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2723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89348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78845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60611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05086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34307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44027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63906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9636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terinaria">
            <a:extLst>
              <a:ext uri="{FF2B5EF4-FFF2-40B4-BE49-F238E27FC236}">
                <a16:creationId xmlns:a16="http://schemas.microsoft.com/office/drawing/2014/main" xmlns="" id="{5197DCEE-9C4B-40EF-8E85-7E72590C6BAF}"/>
              </a:ext>
            </a:extLst>
          </p:cNvPr>
          <p:cNvSpPr>
            <a:spLocks noGrp="1"/>
          </p:cNvSpPr>
          <p:nvPr/>
        </p:nvSpPr>
        <p:spPr>
          <a:xfrm>
            <a:off x="4238780" y="1409700"/>
            <a:ext cx="329534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75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Veterinaria</a:t>
            </a:r>
            <a:endParaRPr sz="4875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Huellitas">
            <a:extLst>
              <a:ext uri="{FF2B5EF4-FFF2-40B4-BE49-F238E27FC236}">
                <a16:creationId xmlns:a16="http://schemas.microsoft.com/office/drawing/2014/main" xmlns="" id="{A5BBF3E9-5AD0-4C81-9C77-ABFAD564B6C0}"/>
              </a:ext>
            </a:extLst>
          </p:cNvPr>
          <p:cNvSpPr>
            <a:spLocks noGrp="1"/>
          </p:cNvSpPr>
          <p:nvPr/>
        </p:nvSpPr>
        <p:spPr>
          <a:xfrm>
            <a:off x="4238780" y="2074389"/>
            <a:ext cx="3812275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75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Huellitas</a:t>
            </a:r>
            <a:endParaRPr sz="675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Sistema web de gestión veterinaria">
            <a:extLst>
              <a:ext uri="{FF2B5EF4-FFF2-40B4-BE49-F238E27FC236}">
                <a16:creationId xmlns:a16="http://schemas.microsoft.com/office/drawing/2014/main" xmlns="" id="{F2FD4D51-EDBA-4E53-99CC-4B4F3ECA7C9E}"/>
              </a:ext>
            </a:extLst>
          </p:cNvPr>
          <p:cNvSpPr>
            <a:spLocks noGrp="1"/>
          </p:cNvSpPr>
          <p:nvPr/>
        </p:nvSpPr>
        <p:spPr>
          <a:xfrm>
            <a:off x="647699" y="3804596"/>
            <a:ext cx="10477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550">
                <a:solidFill>
                  <a:srgbClr val="D5EBDD"/>
                </a:solidFill>
                <a:latin typeface="DejaVu Sans"/>
                <a:ea typeface="DejaVu Sans"/>
                <a:cs typeface="DejaVu Sans"/>
              </a:defRPr>
            </a:pPr>
            <a:r>
              <a:rPr sz="2550" dirty="0">
                <a:solidFill>
                  <a:srgbClr val="D5EBDD"/>
                </a:solidFill>
                <a:latin typeface="DejaVu Sans"/>
                <a:ea typeface="DejaVu Sans"/>
                <a:cs typeface="DejaVu Sans"/>
              </a:rPr>
              <a:t>Sistema web de </a:t>
            </a:r>
            <a:r>
              <a:rPr sz="2550" dirty="0" err="1">
                <a:solidFill>
                  <a:srgbClr val="D5EBDD"/>
                </a:solidFill>
                <a:latin typeface="DejaVu Sans"/>
                <a:ea typeface="DejaVu Sans"/>
                <a:cs typeface="DejaVu Sans"/>
              </a:rPr>
              <a:t>gestión</a:t>
            </a:r>
            <a:r>
              <a:rPr sz="2550" dirty="0">
                <a:solidFill>
                  <a:srgbClr val="D5EBDD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550" dirty="0" err="1">
                <a:solidFill>
                  <a:srgbClr val="D5EBDD"/>
                </a:solidFill>
                <a:latin typeface="DejaVu Sans"/>
                <a:ea typeface="DejaVu Sans"/>
                <a:cs typeface="DejaVu Sans"/>
              </a:rPr>
              <a:t>veterinaria</a:t>
            </a:r>
            <a:endParaRPr sz="2550" dirty="0">
              <a:solidFill>
                <a:srgbClr val="D5EBDD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Propuesta del proyecto integrador">
            <a:extLst>
              <a:ext uri="{FF2B5EF4-FFF2-40B4-BE49-F238E27FC236}">
                <a16:creationId xmlns:a16="http://schemas.microsoft.com/office/drawing/2014/main" xmlns="" id="{65945585-FF95-45D9-9988-F8B132D2A643}"/>
              </a:ext>
            </a:extLst>
          </p:cNvPr>
          <p:cNvSpPr>
            <a:spLocks noGrp="1"/>
          </p:cNvSpPr>
          <p:nvPr/>
        </p:nvSpPr>
        <p:spPr>
          <a:xfrm>
            <a:off x="647699" y="4416898"/>
            <a:ext cx="10477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D5EBDD"/>
                </a:solidFill>
                <a:latin typeface="DejaVu Sans"/>
                <a:ea typeface="DejaVu Sans"/>
                <a:cs typeface="DejaVu Sans"/>
              </a:defRPr>
            </a:pPr>
            <a:r>
              <a:rPr sz="2025" dirty="0" err="1">
                <a:solidFill>
                  <a:srgbClr val="D5EBDD"/>
                </a:solidFill>
                <a:latin typeface="DejaVu Sans"/>
                <a:ea typeface="DejaVu Sans"/>
                <a:cs typeface="DejaVu Sans"/>
              </a:rPr>
              <a:t>Propuesta</a:t>
            </a:r>
            <a:r>
              <a:rPr sz="2025" dirty="0">
                <a:solidFill>
                  <a:srgbClr val="D5EBDD"/>
                </a:solidFill>
                <a:latin typeface="DejaVu Sans"/>
                <a:ea typeface="DejaVu Sans"/>
                <a:cs typeface="DejaVu Sans"/>
              </a:rPr>
              <a:t> del </a:t>
            </a:r>
            <a:r>
              <a:rPr sz="2025" dirty="0" err="1">
                <a:solidFill>
                  <a:srgbClr val="D5EBDD"/>
                </a:solidFill>
                <a:latin typeface="DejaVu Sans"/>
                <a:ea typeface="DejaVu Sans"/>
                <a:cs typeface="DejaVu Sans"/>
              </a:rPr>
              <a:t>proyecto</a:t>
            </a:r>
            <a:r>
              <a:rPr sz="2025" dirty="0">
                <a:solidFill>
                  <a:srgbClr val="D5EBDD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dirty="0" err="1">
                <a:solidFill>
                  <a:srgbClr val="D5EBDD"/>
                </a:solidFill>
                <a:latin typeface="DejaVu Sans"/>
                <a:ea typeface="DejaVu Sans"/>
                <a:cs typeface="DejaVu Sans"/>
              </a:rPr>
              <a:t>integrador</a:t>
            </a:r>
            <a:endParaRPr sz="2025" dirty="0">
              <a:solidFill>
                <a:srgbClr val="D5EBDD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[No. Control 1 - Nombre completo de">
            <a:extLst>
              <a:ext uri="{FF2B5EF4-FFF2-40B4-BE49-F238E27FC236}">
                <a16:creationId xmlns:a16="http://schemas.microsoft.com/office/drawing/2014/main" xmlns="" id="{05CBE3A6-C0A8-4921-92E9-54AB484988EF}"/>
              </a:ext>
            </a:extLst>
          </p:cNvPr>
          <p:cNvSpPr>
            <a:spLocks noGrp="1"/>
          </p:cNvSpPr>
          <p:nvPr/>
        </p:nvSpPr>
        <p:spPr>
          <a:xfrm>
            <a:off x="647700" y="5210175"/>
            <a:ext cx="10287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es-MX" sz="1650" dirty="0" smtClean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24410214 </a:t>
            </a:r>
            <a:r>
              <a:rPr lang="es-MX" sz="165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- Joselyn Contreras </a:t>
            </a:r>
            <a:r>
              <a:rPr lang="es-MX" sz="1650" dirty="0" smtClean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Bustillos</a:t>
            </a:r>
          </a:p>
          <a:p>
            <a:pPr>
              <a:defRPr sz="16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es-MX" sz="1650" dirty="0" smtClean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21410488 </a:t>
            </a:r>
            <a:r>
              <a:rPr lang="es-MX" sz="165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- Joel Eduardo Herrera </a:t>
            </a:r>
            <a:r>
              <a:rPr lang="es-MX" sz="1650" dirty="0" smtClean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Sánchez</a:t>
            </a:r>
          </a:p>
          <a:p>
            <a:pPr>
              <a:defRPr sz="16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es-MX" sz="1650" dirty="0" smtClean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24410173 </a:t>
            </a:r>
            <a:r>
              <a:rPr lang="es-MX" sz="165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- Omar Ali Loya Reyes</a:t>
            </a:r>
            <a:endParaRPr sz="1650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143" y="1129281"/>
            <a:ext cx="2080864" cy="189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87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title">
            <a:extLst>
              <a:ext uri="{FF2B5EF4-FFF2-40B4-BE49-F238E27FC236}">
                <a16:creationId xmlns:a16="http://schemas.microsoft.com/office/drawing/2014/main" xmlns="" id="{E8A7B4AC-5A3C-4898-AF95-133848B2BA56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450" b="1">
                <a:solidFill>
                  <a:srgbClr val="153E3B"/>
                </a:solidFill>
                <a:latin typeface="DejaVu Sans"/>
                <a:ea typeface="DejaVu Sans"/>
                <a:cs typeface="DejaVu Sans"/>
              </a:defRPr>
            </a:pPr>
            <a:r>
              <a:rPr lang="es-MX" sz="3450" b="1" dirty="0" smtClean="0">
                <a:solidFill>
                  <a:srgbClr val="153E3B"/>
                </a:solidFill>
                <a:latin typeface="DejaVu Sans"/>
                <a:ea typeface="DejaVu Sans"/>
                <a:cs typeface="DejaVu Sans"/>
              </a:rPr>
              <a:t>Descripción de</a:t>
            </a:r>
            <a:r>
              <a:rPr sz="3450" b="1" dirty="0" smtClean="0">
                <a:solidFill>
                  <a:srgbClr val="153E3B"/>
                </a:solidFill>
                <a:latin typeface="DejaVu Sans"/>
                <a:ea typeface="DejaVu Sans"/>
                <a:cs typeface="DejaVu Sans"/>
              </a:rPr>
              <a:t>l </a:t>
            </a:r>
            <a:r>
              <a:rPr lang="es-MX" sz="3450" b="1" dirty="0" smtClean="0">
                <a:solidFill>
                  <a:srgbClr val="153E3B"/>
                </a:solidFill>
                <a:latin typeface="DejaVu Sans"/>
                <a:ea typeface="DejaVu Sans"/>
                <a:cs typeface="DejaVu Sans"/>
              </a:rPr>
              <a:t>proyecto.</a:t>
            </a:r>
            <a:endParaRPr sz="3450" b="1" dirty="0">
              <a:solidFill>
                <a:srgbClr val="153E3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Situación del escenario">
            <a:extLst>
              <a:ext uri="{FF2B5EF4-FFF2-40B4-BE49-F238E27FC236}">
                <a16:creationId xmlns:a16="http://schemas.microsoft.com/office/drawing/2014/main" xmlns="" id="{12BD332E-0FE6-4E1E-AA64-59AB60BE423D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1911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1">
                <a:solidFill>
                  <a:srgbClr val="23726A"/>
                </a:solidFill>
                <a:latin typeface="DejaVu Sans"/>
                <a:ea typeface="DejaVu Sans"/>
                <a:cs typeface="DejaVu Sans"/>
              </a:defRPr>
            </a:pPr>
            <a:r>
              <a:rPr lang="es-MX" sz="2400" b="1" dirty="0">
                <a:solidFill>
                  <a:srgbClr val="23726A"/>
                </a:solidFill>
                <a:latin typeface="DejaVu Sans"/>
                <a:ea typeface="DejaVu Sans"/>
                <a:cs typeface="DejaVu Sans"/>
              </a:rPr>
              <a:t>¿Qué es Veterinaria Huellitas?</a:t>
            </a:r>
            <a:endParaRPr sz="2400" b="1" dirty="0">
              <a:solidFill>
                <a:srgbClr val="23726A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Registros de mascotas y atenciones ">
            <a:extLst>
              <a:ext uri="{FF2B5EF4-FFF2-40B4-BE49-F238E27FC236}">
                <a16:creationId xmlns:a16="http://schemas.microsoft.com/office/drawing/2014/main" xmlns="" id="{B10CFFE6-39CD-4397-9B46-2E72C4F10C17}"/>
              </a:ext>
            </a:extLst>
          </p:cNvPr>
          <p:cNvSpPr>
            <a:spLocks noGrp="1"/>
          </p:cNvSpPr>
          <p:nvPr/>
        </p:nvSpPr>
        <p:spPr>
          <a:xfrm>
            <a:off x="609600" y="2228850"/>
            <a:ext cx="10953750" cy="2828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>
                <a:solidFill>
                  <a:srgbClr val="183C3A"/>
                </a:solidFill>
                <a:latin typeface="DejaVu Sans"/>
                <a:ea typeface="DejaVu Sans"/>
                <a:cs typeface="DejaVu Sans"/>
              </a:defRPr>
            </a:pPr>
            <a:r>
              <a:rPr lang="es-MX" sz="2175" dirty="0">
                <a:solidFill>
                  <a:srgbClr val="183C3A"/>
                </a:solidFill>
                <a:latin typeface="DejaVu Sans"/>
                <a:ea typeface="DejaVu Sans"/>
                <a:cs typeface="DejaVu Sans"/>
              </a:rPr>
              <a:t>Veterinaria Huellitas será una aplicación web para gestionar la información y las operaciones principales de una clínica veterinaria, permitiendo administrar clientes, mascotas, citas, consultas médicas, tratamientos y pagos desde un mismo sistema.</a:t>
            </a:r>
            <a:endParaRPr sz="2175" dirty="0" smtClean="0">
              <a:solidFill>
                <a:srgbClr val="183C3A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Situación del escenario">
            <a:extLst>
              <a:ext uri="{FF2B5EF4-FFF2-40B4-BE49-F238E27FC236}">
                <a16:creationId xmlns:a16="http://schemas.microsoft.com/office/drawing/2014/main" xmlns="" id="{12BD332E-0FE6-4E1E-AA64-59AB60BE423D}"/>
              </a:ext>
            </a:extLst>
          </p:cNvPr>
          <p:cNvSpPr>
            <a:spLocks noGrp="1"/>
          </p:cNvSpPr>
          <p:nvPr/>
        </p:nvSpPr>
        <p:spPr>
          <a:xfrm>
            <a:off x="609599" y="3851855"/>
            <a:ext cx="51911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1">
                <a:solidFill>
                  <a:srgbClr val="23726A"/>
                </a:solidFill>
                <a:latin typeface="DejaVu Sans"/>
                <a:ea typeface="DejaVu Sans"/>
                <a:cs typeface="DejaVu Sans"/>
              </a:defRPr>
            </a:pPr>
            <a:r>
              <a:rPr lang="es-MX" sz="2400" b="1" dirty="0" smtClean="0">
                <a:solidFill>
                  <a:srgbClr val="23726A"/>
                </a:solidFill>
                <a:latin typeface="DejaVu Sans"/>
                <a:ea typeface="DejaVu Sans"/>
                <a:cs typeface="DejaVu Sans"/>
              </a:rPr>
              <a:t>Objetivo general</a:t>
            </a:r>
            <a:endParaRPr sz="2400" b="1" dirty="0">
              <a:solidFill>
                <a:srgbClr val="23726A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" name="Registros de mascotas y atenciones ">
            <a:extLst>
              <a:ext uri="{FF2B5EF4-FFF2-40B4-BE49-F238E27FC236}">
                <a16:creationId xmlns:a16="http://schemas.microsoft.com/office/drawing/2014/main" xmlns="" id="{B10CFFE6-39CD-4397-9B46-2E72C4F10C17}"/>
              </a:ext>
            </a:extLst>
          </p:cNvPr>
          <p:cNvSpPr>
            <a:spLocks noGrp="1"/>
          </p:cNvSpPr>
          <p:nvPr/>
        </p:nvSpPr>
        <p:spPr>
          <a:xfrm>
            <a:off x="609599" y="4408395"/>
            <a:ext cx="10953750" cy="2828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>
                <a:solidFill>
                  <a:srgbClr val="183C3A"/>
                </a:solidFill>
                <a:latin typeface="DejaVu Sans"/>
                <a:ea typeface="DejaVu Sans"/>
                <a:cs typeface="DejaVu Sans"/>
              </a:defRPr>
            </a:pPr>
            <a:r>
              <a:rPr lang="es-MX" sz="2175" dirty="0">
                <a:solidFill>
                  <a:srgbClr val="183C3A"/>
                </a:solidFill>
                <a:latin typeface="DejaVu Sans"/>
                <a:ea typeface="DejaVu Sans"/>
                <a:cs typeface="DejaVu Sans"/>
              </a:rPr>
              <a:t>Desarrollar una aplicación web que permita administrar de manera centralizada la información y los procesos de Veterinaria Huellitas, utilizando una base de datos </a:t>
            </a:r>
            <a:r>
              <a:rPr lang="es-MX" sz="2175" dirty="0" err="1">
                <a:solidFill>
                  <a:srgbClr val="183C3A"/>
                </a:solidFill>
                <a:latin typeface="DejaVu Sans"/>
                <a:ea typeface="DejaVu Sans"/>
                <a:cs typeface="DejaVu Sans"/>
              </a:rPr>
              <a:t>MySQL</a:t>
            </a:r>
            <a:r>
              <a:rPr lang="es-MX" sz="2175" dirty="0">
                <a:solidFill>
                  <a:srgbClr val="183C3A"/>
                </a:solidFill>
                <a:latin typeface="DejaVu Sans"/>
                <a:ea typeface="DejaVu Sans"/>
                <a:cs typeface="DejaVu Sans"/>
              </a:rPr>
              <a:t> normalizada</a:t>
            </a:r>
            <a:r>
              <a:rPr lang="es-MX" sz="2175" dirty="0" smtClean="0">
                <a:solidFill>
                  <a:srgbClr val="183C3A"/>
                </a:solidFill>
                <a:latin typeface="DejaVu Sans"/>
                <a:ea typeface="DejaVu Sans"/>
                <a:cs typeface="DejaVu Sans"/>
              </a:rPr>
              <a:t>.</a:t>
            </a:r>
            <a:endParaRPr sz="2175" dirty="0" smtClean="0">
              <a:solidFill>
                <a:srgbClr val="183C3A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154489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xmlns="" id="{F56AA27F-7FEF-4508-9D70-51E7192C91E9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450" b="1">
                <a:solidFill>
                  <a:srgbClr val="153E3B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53E3B"/>
                </a:solidFill>
                <a:latin typeface="DejaVu Sans"/>
                <a:ea typeface="DejaVu Sans"/>
                <a:cs typeface="DejaVu Sans"/>
              </a:rPr>
              <a:t>Usuarios y permisos</a:t>
            </a:r>
          </a:p>
        </p:txBody>
      </p:sp>
      <p:graphicFrame>
        <p:nvGraphicFramePr>
          <p:cNvPr id="7" name="Tabla 6"/>
          <p:cNvGraphicFramePr/>
          <p:nvPr/>
        </p:nvGraphicFramePr>
        <p:xfrm>
          <a:off x="609600" y="1533525"/>
          <a:ext cx="10972800" cy="3419475"/>
        </p:xfrm>
        <a:graphic>
          <a:graphicData uri="http://schemas.openxmlformats.org/drawingml/2006/table">
            <a:tbl>
              <a:tblPr/>
              <a:tblGrid>
                <a:gridCol w="2324100"/>
                <a:gridCol w="4676775"/>
                <a:gridCol w="3971925"/>
              </a:tblGrid>
              <a:tr h="11398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</a:t>
                      </a:r>
                    </a:p>
                  </a:txBody>
                  <a:tcPr marL="152400" marR="152400" marT="114300" marB="114300" anchor="ctr">
                    <a:solidFill>
                      <a:srgbClr val="2372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Gestiona</a:t>
                      </a:r>
                    </a:p>
                  </a:txBody>
                  <a:tcPr marL="152400" marR="152400" marT="114300" marB="114300" anchor="ctr">
                    <a:solidFill>
                      <a:srgbClr val="2372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Consulta</a:t>
                      </a:r>
                    </a:p>
                  </a:txBody>
                  <a:tcPr marL="152400" marR="152400" marT="114300" marB="114300" anchor="ctr">
                    <a:solidFill>
                      <a:srgbClr val="23726A"/>
                    </a:solidFill>
                  </a:tcPr>
                </a:tc>
              </a:tr>
              <a:tr h="11398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Administrador</a:t>
                      </a: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Clientes, mascotas, veterinarios, catálogos, citas y atención clínica.</a:t>
                      </a: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Toda la información, pagos y los cuatro reportes.</a:t>
                      </a: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</a:tr>
              <a:tr h="11398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Cliente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 perfil, datos básicos de sus mascotas y solicitudes de cita.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Sus citas, historial médico, diagnósticos, recetas y pagos.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El veterinario se asigna a las cita">
            <a:extLst>
              <a:ext uri="{FF2B5EF4-FFF2-40B4-BE49-F238E27FC236}">
                <a16:creationId xmlns:a16="http://schemas.microsoft.com/office/drawing/2014/main" xmlns="" id="{FA4D01DA-A4EE-4D87-A46B-7132BDEEFFC6}"/>
              </a:ext>
            </a:extLst>
          </p:cNvPr>
          <p:cNvSpPr>
            <a:spLocks noGrp="1"/>
          </p:cNvSpPr>
          <p:nvPr/>
        </p:nvSpPr>
        <p:spPr>
          <a:xfrm>
            <a:off x="609600" y="541972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1">
                <a:solidFill>
                  <a:srgbClr val="23726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dirty="0">
                <a:solidFill>
                  <a:srgbClr val="23726A"/>
                </a:solidFill>
                <a:latin typeface="DejaVu Sans"/>
                <a:ea typeface="DejaVu Sans"/>
                <a:cs typeface="DejaVu Sans"/>
              </a:rPr>
              <a:t>El </a:t>
            </a:r>
            <a:r>
              <a:rPr lang="es-MX" sz="2025" b="1" dirty="0" smtClean="0">
                <a:solidFill>
                  <a:srgbClr val="23726A"/>
                </a:solidFill>
                <a:latin typeface="DejaVu Sans"/>
                <a:ea typeface="DejaVu Sans"/>
                <a:cs typeface="DejaVu Sans"/>
              </a:rPr>
              <a:t>veterinario no será un rol de acceso, sus </a:t>
            </a:r>
            <a:r>
              <a:rPr lang="es-MX" sz="2025" b="1" dirty="0">
                <a:solidFill>
                  <a:srgbClr val="23726A"/>
                </a:solidFill>
                <a:latin typeface="DejaVu Sans"/>
                <a:ea typeface="DejaVu Sans"/>
                <a:cs typeface="DejaVu Sans"/>
              </a:rPr>
              <a:t>datos se almacenarán en una tabla independiente y el Administrador lo asignará a las citas</a:t>
            </a:r>
            <a:r>
              <a:rPr lang="es-MX" sz="2025" b="1" dirty="0" smtClean="0">
                <a:solidFill>
                  <a:srgbClr val="23726A"/>
                </a:solidFill>
                <a:latin typeface="DejaVu Sans"/>
                <a:ea typeface="DejaVu Sans"/>
                <a:cs typeface="DejaVu Sans"/>
              </a:rPr>
              <a:t>.</a:t>
            </a:r>
            <a:endParaRPr sz="2025" b="1" dirty="0">
              <a:solidFill>
                <a:srgbClr val="23726A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554286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xmlns="" id="{5CF3EEFB-4425-4209-8F98-B435F8DAD83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450" b="1">
                <a:solidFill>
                  <a:srgbClr val="153E3B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53E3B"/>
                </a:solidFill>
                <a:latin typeface="DejaVu Sans"/>
                <a:ea typeface="DejaVu Sans"/>
                <a:cs typeface="DejaVu Sans"/>
              </a:rPr>
              <a:t>Módulos del sistema</a:t>
            </a:r>
          </a:p>
        </p:txBody>
      </p:sp>
      <p:graphicFrame>
        <p:nvGraphicFramePr>
          <p:cNvPr id="7" name="Tabla 6"/>
          <p:cNvGraphicFramePr/>
          <p:nvPr/>
        </p:nvGraphicFramePr>
        <p:xfrm>
          <a:off x="609600" y="1581150"/>
          <a:ext cx="10972800" cy="4105275"/>
        </p:xfrm>
        <a:graphic>
          <a:graphicData uri="http://schemas.openxmlformats.org/drawingml/2006/table">
            <a:tbl>
              <a:tblPr/>
              <a:tblGrid>
                <a:gridCol w="2333625"/>
                <a:gridCol w="4343400"/>
                <a:gridCol w="4295775"/>
              </a:tblGrid>
              <a:tr h="82105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Área</a:t>
                      </a:r>
                    </a:p>
                  </a:txBody>
                  <a:tcPr marL="152400" marR="152400" marT="114300" marB="114300" anchor="ctr">
                    <a:solidFill>
                      <a:srgbClr val="2372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Módulos</a:t>
                      </a:r>
                    </a:p>
                  </a:txBody>
                  <a:tcPr marL="152400" marR="152400" marT="114300" marB="114300" anchor="ctr">
                    <a:solidFill>
                      <a:srgbClr val="2372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Función</a:t>
                      </a:r>
                    </a:p>
                  </a:txBody>
                  <a:tcPr marL="152400" marR="152400" marT="114300" marB="114300" anchor="ctr">
                    <a:solidFill>
                      <a:srgbClr val="23726A"/>
                    </a:solidFill>
                  </a:tcPr>
                </a:tc>
              </a:tr>
              <a:tr h="82105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Registros</a:t>
                      </a: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Clientes, Mascotas, Veterinarios</a:t>
                      </a: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Identificar propietarios, pacientes y profesionales.</a:t>
                      </a: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</a:tr>
              <a:tr h="82105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Atención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Servicios, Citas, Consultas Médicas, Diagnósticos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Organizar y documentar cada atención.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82105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Tratamiento</a:t>
                      </a: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Medicamentos, Recetas</a:t>
                      </a: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Registrar los medicamentos y sus indicaciones.</a:t>
                      </a: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</a:tr>
              <a:tr h="82105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Administración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Inicio, Pagos, Reportes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Consultar indicadores, cobros y resultados.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da módulo tendrá acciones diferen">
            <a:extLst>
              <a:ext uri="{FF2B5EF4-FFF2-40B4-BE49-F238E27FC236}">
                <a16:creationId xmlns:a16="http://schemas.microsoft.com/office/drawing/2014/main" xmlns="" id="{E1DED80E-0346-4202-B0E9-44B9BABD5A6D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183C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83C3A"/>
                </a:solidFill>
                <a:latin typeface="DejaVu Sans"/>
                <a:ea typeface="DejaVu Sans"/>
                <a:cs typeface="DejaVu Sans"/>
              </a:rPr>
              <a:t>Cada módulo tendrá acciones diferentes según el rol del usuario.</a:t>
            </a:r>
          </a:p>
        </p:txBody>
      </p:sp>
    </p:spTree>
    <p:extLst>
      <p:ext uri="{BB962C8B-B14F-4D97-AF65-F5344CB8AC3E}">
        <p14:creationId xmlns:p14="http://schemas.microsoft.com/office/powerpoint/2010/main" val="891899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6" r="81533" b="28188"/>
          <a:stretch/>
        </p:blipFill>
        <p:spPr>
          <a:xfrm>
            <a:off x="1551802" y="217907"/>
            <a:ext cx="2595193" cy="643237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227" r="81533"/>
          <a:stretch/>
        </p:blipFill>
        <p:spPr>
          <a:xfrm>
            <a:off x="6665430" y="1731342"/>
            <a:ext cx="2864089" cy="297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976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xmlns="" id="{E2684D27-5FD0-4065-B071-192B6DD2C592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450" b="1">
                <a:solidFill>
                  <a:srgbClr val="153E3B"/>
                </a:solidFill>
                <a:latin typeface="DejaVu Sans"/>
                <a:ea typeface="DejaVu Sans"/>
                <a:cs typeface="DejaVu Sans"/>
              </a:defRPr>
            </a:pPr>
            <a:r>
              <a:rPr lang="es-MX" sz="3450" b="1" dirty="0" smtClean="0">
                <a:solidFill>
                  <a:srgbClr val="153E3B"/>
                </a:solidFill>
                <a:latin typeface="DejaVu Sans"/>
                <a:ea typeface="DejaVu Sans"/>
                <a:cs typeface="DejaVu Sans"/>
              </a:rPr>
              <a:t>Tablas de la base de datos.</a:t>
            </a:r>
            <a:endParaRPr sz="3450" b="1" dirty="0">
              <a:solidFill>
                <a:srgbClr val="153E3B"/>
              </a:solidFill>
              <a:latin typeface="DejaVu Sans"/>
              <a:ea typeface="DejaVu Sans"/>
              <a:cs typeface="DejaVu Sans"/>
            </a:endParaRPr>
          </a:p>
        </p:txBody>
      </p:sp>
      <p:graphicFrame>
        <p:nvGraphicFramePr>
          <p:cNvPr id="7" name="Tabla 6"/>
          <p:cNvGraphicFramePr/>
          <p:nvPr>
            <p:extLst>
              <p:ext uri="{D42A27DB-BD31-4B8C-83A1-F6EECF244321}">
                <p14:modId xmlns:p14="http://schemas.microsoft.com/office/powerpoint/2010/main" val="2155126389"/>
              </p:ext>
            </p:extLst>
          </p:nvPr>
        </p:nvGraphicFramePr>
        <p:xfrm>
          <a:off x="609600" y="1438275"/>
          <a:ext cx="10972800" cy="4333878"/>
        </p:xfrm>
        <a:graphic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722313">
                <a:tc>
                  <a:txBody>
                    <a:bodyPr/>
                    <a:lstStyle/>
                    <a:p>
                      <a:r>
                        <a:rPr sz="1950" b="1" dirty="0" err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Grupo</a:t>
                      </a:r>
                      <a:endParaRPr sz="1950" b="1" dirty="0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L="152400" marR="152400" marT="114300" marB="114300" anchor="ctr">
                    <a:solidFill>
                      <a:srgbClr val="2372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Tablas</a:t>
                      </a:r>
                    </a:p>
                  </a:txBody>
                  <a:tcPr marL="152400" marR="152400" marT="114300" marB="114300" anchor="ctr">
                    <a:solidFill>
                      <a:srgbClr val="23726A"/>
                    </a:solidFill>
                  </a:tcPr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Acceso y propietarios</a:t>
                      </a: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950" b="0" dirty="0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</a:t>
                      </a:r>
                      <a:r>
                        <a:rPr sz="1950" b="0" dirty="0" err="1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suarios</a:t>
                      </a:r>
                      <a:r>
                        <a:rPr sz="1950" b="0" dirty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, </a:t>
                      </a:r>
                      <a:r>
                        <a:rPr lang="es-MX" sz="1950" b="0" dirty="0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  <a:r>
                        <a:rPr sz="1950" b="0" dirty="0" err="1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lientes</a:t>
                      </a:r>
                      <a:r>
                        <a:rPr sz="1950" b="0" dirty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, </a:t>
                      </a:r>
                      <a:r>
                        <a:rPr lang="es-MX" sz="1950" b="0" dirty="0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</a:t>
                      </a:r>
                      <a:r>
                        <a:rPr sz="1950" b="0" dirty="0" err="1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ascotas</a:t>
                      </a:r>
                      <a:endParaRPr sz="1950" b="0" dirty="0">
                        <a:solidFill>
                          <a:srgbClr val="183C3A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Agenda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950" b="0" dirty="0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</a:t>
                      </a:r>
                      <a:r>
                        <a:rPr sz="1950" b="0" dirty="0" err="1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eterinarios</a:t>
                      </a:r>
                      <a:r>
                        <a:rPr sz="1950" b="0" dirty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, </a:t>
                      </a:r>
                      <a:r>
                        <a:rPr lang="es-MX" sz="1950" b="0" dirty="0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</a:t>
                      </a:r>
                      <a:r>
                        <a:rPr sz="1950" b="0" dirty="0" err="1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ervicios</a:t>
                      </a:r>
                      <a:r>
                        <a:rPr sz="1950" b="0" dirty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, </a:t>
                      </a:r>
                      <a:r>
                        <a:rPr lang="es-MX" sz="1950" b="0" dirty="0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  <a:r>
                        <a:rPr sz="1950" b="0" dirty="0" err="1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itas</a:t>
                      </a:r>
                      <a:endParaRPr sz="1950" b="0" dirty="0">
                        <a:solidFill>
                          <a:srgbClr val="183C3A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Información clínica</a:t>
                      </a: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950" b="0" dirty="0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  <a:r>
                        <a:rPr sz="1950" b="0" dirty="0" err="1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onsultas</a:t>
                      </a:r>
                      <a:r>
                        <a:rPr sz="1950" b="0" dirty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, </a:t>
                      </a:r>
                      <a:r>
                        <a:rPr lang="es-MX" sz="1950" b="0" dirty="0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</a:t>
                      </a:r>
                      <a:r>
                        <a:rPr sz="1950" b="0" dirty="0" err="1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iagnosticos</a:t>
                      </a:r>
                      <a:r>
                        <a:rPr sz="1950" b="0" dirty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, </a:t>
                      </a:r>
                      <a:r>
                        <a:rPr lang="es-MX" sz="1950" b="0" dirty="0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  <a:r>
                        <a:rPr sz="1950" b="0" dirty="0" err="1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onsulta</a:t>
                      </a:r>
                      <a:r>
                        <a:rPr lang="es-MX" sz="1950" b="0" dirty="0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</a:t>
                      </a:r>
                      <a:r>
                        <a:rPr sz="1950" b="0" dirty="0" err="1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iagnostico</a:t>
                      </a:r>
                      <a:endParaRPr sz="1950" b="0" dirty="0">
                        <a:solidFill>
                          <a:srgbClr val="183C3A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Tratamientos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950" b="0" dirty="0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</a:t>
                      </a:r>
                      <a:r>
                        <a:rPr sz="1950" b="0" dirty="0" err="1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edicamentos</a:t>
                      </a:r>
                      <a:r>
                        <a:rPr sz="1950" b="0" dirty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, </a:t>
                      </a:r>
                      <a:r>
                        <a:rPr lang="es-MX" sz="1950" b="0" dirty="0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  <a:r>
                        <a:rPr sz="1950" b="0" dirty="0" err="1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ecetas</a:t>
                      </a:r>
                      <a:r>
                        <a:rPr sz="1950" b="0" dirty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, </a:t>
                      </a:r>
                      <a:r>
                        <a:rPr lang="es-MX" sz="1950" b="0" dirty="0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</a:t>
                      </a:r>
                      <a:r>
                        <a:rPr sz="1950" b="0" dirty="0" err="1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etalle</a:t>
                      </a:r>
                      <a:r>
                        <a:rPr lang="es-MX" sz="1950" b="0" dirty="0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  <a:r>
                        <a:rPr sz="1950" b="0" dirty="0" err="1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eceta</a:t>
                      </a:r>
                      <a:endParaRPr sz="1950" b="0" dirty="0">
                        <a:solidFill>
                          <a:srgbClr val="183C3A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Cobros</a:t>
                      </a: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950" b="0" dirty="0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</a:t>
                      </a:r>
                      <a:r>
                        <a:rPr sz="1950" b="0" dirty="0" err="1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agos</a:t>
                      </a:r>
                      <a:endParaRPr sz="1950" b="0" dirty="0">
                        <a:solidFill>
                          <a:srgbClr val="183C3A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83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n 3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49" y="188345"/>
            <a:ext cx="10766844" cy="6779124"/>
          </a:xfrm>
          <a:prstGeom prst="rect">
            <a:avLst/>
          </a:prstGeom>
        </p:spPr>
      </p:pic>
      <p:sp>
        <p:nvSpPr>
          <p:cNvPr id="38" name="Rectángulo 37"/>
          <p:cNvSpPr/>
          <p:nvPr/>
        </p:nvSpPr>
        <p:spPr>
          <a:xfrm>
            <a:off x="6851561" y="188345"/>
            <a:ext cx="1828800" cy="309093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9070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xmlns="" id="{40F67B99-DC6A-476B-ACB5-77591510EBB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450" b="1">
                <a:solidFill>
                  <a:srgbClr val="153E3B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53E3B"/>
                </a:solidFill>
                <a:latin typeface="DejaVu Sans"/>
                <a:ea typeface="DejaVu Sans"/>
                <a:cs typeface="DejaVu Sans"/>
              </a:rPr>
              <a:t>Arquitectura y tecnologías</a:t>
            </a:r>
          </a:p>
        </p:txBody>
      </p:sp>
      <p:sp>
        <p:nvSpPr>
          <p:cNvPr id="2" name="11">
            <a:extLst>
              <a:ext uri="{FF2B5EF4-FFF2-40B4-BE49-F238E27FC236}">
                <a16:creationId xmlns:a16="http://schemas.microsoft.com/office/drawing/2014/main" xmlns="" id="{D4C57C69-9A79-4A84-853A-1B4848820E4F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552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425">
                <a:solidFill>
                  <a:srgbClr val="54716B"/>
                </a:solidFill>
                <a:latin typeface="DejaVu Sans"/>
                <a:ea typeface="DejaVu Sans"/>
                <a:cs typeface="DejaVu Sans"/>
              </a:defRPr>
            </a:pPr>
            <a:r>
              <a:rPr sz="1425">
                <a:solidFill>
                  <a:srgbClr val="54716B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graphicFrame>
        <p:nvGraphicFramePr>
          <p:cNvPr id="7" name="Tabla 6"/>
          <p:cNvGraphicFramePr/>
          <p:nvPr/>
        </p:nvGraphicFramePr>
        <p:xfrm>
          <a:off x="609600" y="1514475"/>
          <a:ext cx="10972800" cy="3381376"/>
        </p:xfrm>
        <a:graphic>
          <a:graphicData uri="http://schemas.openxmlformats.org/drawingml/2006/table">
            <a:tbl>
              <a:tblPr/>
              <a:tblGrid>
                <a:gridCol w="2286000"/>
                <a:gridCol w="4010025"/>
                <a:gridCol w="4676775"/>
              </a:tblGrid>
              <a:tr h="845344">
                <a:tc>
                  <a:txBody>
                    <a:bodyPr/>
                    <a:lstStyle/>
                    <a:p>
                      <a:r>
                        <a:rPr sz="1950" b="1" dirty="0" err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Capa</a:t>
                      </a:r>
                      <a:endParaRPr sz="1950" b="1" dirty="0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L="152400" marR="152400" marT="114300" marB="114300" anchor="ctr">
                    <a:solidFill>
                      <a:srgbClr val="2372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Tecnologías</a:t>
                      </a:r>
                    </a:p>
                  </a:txBody>
                  <a:tcPr marL="152400" marR="152400" marT="114300" marB="114300" anchor="ctr">
                    <a:solidFill>
                      <a:srgbClr val="2372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Responsabilidad</a:t>
                      </a:r>
                    </a:p>
                  </a:txBody>
                  <a:tcPr marL="152400" marR="152400" marT="114300" marB="114300" anchor="ctr">
                    <a:solidFill>
                      <a:srgbClr val="23726A"/>
                    </a:solidFill>
                  </a:tcPr>
                </a:tc>
              </a:tr>
              <a:tr h="845344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Presentación</a:t>
                      </a: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HTML5, CSS3 y JavaScript</a:t>
                      </a: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Interfaces de Administrador y Cliente.</a:t>
                      </a: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</a:tr>
              <a:tr h="845344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Lógica de aplicación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 dirty="0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PHP, PDO y </a:t>
                      </a:r>
                      <a:r>
                        <a:rPr sz="1950" b="0" dirty="0" err="1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generación</a:t>
                      </a:r>
                      <a:r>
                        <a:rPr sz="1950" b="0" dirty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de PDF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Autenticación, permisos, validaciones y operaciones.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845344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Datos</a:t>
                      </a: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MySQL e InnoDB</a:t>
                      </a: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 dirty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 </a:t>
                      </a:r>
                      <a:r>
                        <a:rPr sz="1950" b="0" dirty="0" err="1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tablas</a:t>
                      </a:r>
                      <a:r>
                        <a:rPr sz="1950" b="0" dirty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1950" b="0" dirty="0" err="1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relacionadas</a:t>
                      </a:r>
                      <a:r>
                        <a:rPr sz="1950" b="0" dirty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1950" b="0" dirty="0" err="1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</a:t>
                      </a:r>
                      <a:r>
                        <a:rPr sz="1950" b="0" dirty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1950" b="0" dirty="0" err="1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una</a:t>
                      </a:r>
                      <a:r>
                        <a:rPr sz="1950" b="0" dirty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base </a:t>
                      </a:r>
                      <a:r>
                        <a:rPr sz="1950" b="0" dirty="0" err="1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compartida</a:t>
                      </a:r>
                      <a:r>
                        <a:rPr sz="1950" b="0" dirty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.</a:t>
                      </a: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</a:tr>
            </a:tbl>
          </a:graphicData>
        </a:graphic>
      </p:graphicFrame>
      <p:sp>
        <p:nvSpPr>
          <p:cNvPr id="4" name="Entorno: Visual Studio Code, Apache">
            <a:extLst>
              <a:ext uri="{FF2B5EF4-FFF2-40B4-BE49-F238E27FC236}">
                <a16:creationId xmlns:a16="http://schemas.microsoft.com/office/drawing/2014/main" xmlns="" id="{E16D65D9-306C-489E-85E6-3A04654A4CBA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8585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183C3A"/>
                </a:solidFill>
                <a:latin typeface="DejaVu Sans"/>
                <a:ea typeface="DejaVu Sans"/>
                <a:cs typeface="DejaVu Sans"/>
              </a:defRPr>
            </a:pPr>
            <a:r>
              <a:rPr sz="1950" dirty="0" err="1">
                <a:solidFill>
                  <a:srgbClr val="183C3A"/>
                </a:solidFill>
                <a:latin typeface="DejaVu Sans"/>
                <a:ea typeface="DejaVu Sans"/>
                <a:cs typeface="DejaVu Sans"/>
              </a:rPr>
              <a:t>Entorno</a:t>
            </a:r>
            <a:r>
              <a:rPr sz="1950" dirty="0">
                <a:solidFill>
                  <a:srgbClr val="183C3A"/>
                </a:solidFill>
                <a:latin typeface="DejaVu Sans"/>
                <a:ea typeface="DejaVu Sans"/>
                <a:cs typeface="DejaVu Sans"/>
              </a:rPr>
              <a:t>: Visual Studio Code, Apache y </a:t>
            </a:r>
            <a:r>
              <a:rPr sz="1950" dirty="0" err="1">
                <a:solidFill>
                  <a:srgbClr val="183C3A"/>
                </a:solidFill>
                <a:latin typeface="DejaVu Sans"/>
                <a:ea typeface="DejaVu Sans"/>
                <a:cs typeface="DejaVu Sans"/>
              </a:rPr>
              <a:t>apoyo</a:t>
            </a:r>
            <a:r>
              <a:rPr sz="1950" dirty="0">
                <a:solidFill>
                  <a:srgbClr val="183C3A"/>
                </a:solidFill>
                <a:latin typeface="DejaVu Sans"/>
                <a:ea typeface="DejaVu Sans"/>
                <a:cs typeface="DejaVu Sans"/>
              </a:rPr>
              <a:t> de XAMPP</a:t>
            </a:r>
            <a:r>
              <a:rPr sz="1950" dirty="0" smtClean="0">
                <a:solidFill>
                  <a:srgbClr val="183C3A"/>
                </a:solidFill>
                <a:latin typeface="DejaVu Sans"/>
                <a:ea typeface="DejaVu Sans"/>
                <a:cs typeface="DejaVu Sans"/>
              </a:rPr>
              <a:t>.</a:t>
            </a:r>
            <a:endParaRPr sz="1950" dirty="0">
              <a:solidFill>
                <a:srgbClr val="183C3A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1026" name="Picture 2" descr="Como Instalar Xampp, Tutorial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2816" y="5114926"/>
            <a:ext cx="1323974" cy="1323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7586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xmlns="" id="{62F860CF-A557-4371-9EE8-C40E9B58BB92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450" b="1">
                <a:solidFill>
                  <a:srgbClr val="153E3B"/>
                </a:solidFill>
                <a:latin typeface="DejaVu Sans"/>
                <a:ea typeface="DejaVu Sans"/>
                <a:cs typeface="DejaVu Sans"/>
              </a:defRPr>
            </a:pPr>
            <a:r>
              <a:rPr lang="es-MX" sz="3450" b="1" dirty="0">
                <a:solidFill>
                  <a:srgbClr val="153E3B"/>
                </a:solidFill>
                <a:latin typeface="DejaVu Sans"/>
                <a:ea typeface="DejaVu Sans"/>
                <a:cs typeface="DejaVu Sans"/>
              </a:rPr>
              <a:t>R</a:t>
            </a:r>
            <a:r>
              <a:rPr sz="3450" b="1" dirty="0" err="1" smtClean="0">
                <a:solidFill>
                  <a:srgbClr val="153E3B"/>
                </a:solidFill>
                <a:latin typeface="DejaVu Sans"/>
                <a:ea typeface="DejaVu Sans"/>
                <a:cs typeface="DejaVu Sans"/>
              </a:rPr>
              <a:t>eportes</a:t>
            </a:r>
            <a:endParaRPr sz="3450" b="1" dirty="0">
              <a:solidFill>
                <a:srgbClr val="153E3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14">
            <a:extLst>
              <a:ext uri="{FF2B5EF4-FFF2-40B4-BE49-F238E27FC236}">
                <a16:creationId xmlns:a16="http://schemas.microsoft.com/office/drawing/2014/main" xmlns="" id="{129E478A-D13D-403E-B52B-4C94BF5AF790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552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425">
                <a:solidFill>
                  <a:srgbClr val="54716B"/>
                </a:solidFill>
                <a:latin typeface="DejaVu Sans"/>
                <a:ea typeface="DejaVu Sans"/>
                <a:cs typeface="DejaVu Sans"/>
              </a:defRPr>
            </a:pPr>
            <a:r>
              <a:rPr sz="1425">
                <a:solidFill>
                  <a:srgbClr val="54716B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graphicFrame>
        <p:nvGraphicFramePr>
          <p:cNvPr id="7" name="Tabla 6"/>
          <p:cNvGraphicFramePr/>
          <p:nvPr>
            <p:extLst>
              <p:ext uri="{D42A27DB-BD31-4B8C-83A1-F6EECF244321}">
                <p14:modId xmlns:p14="http://schemas.microsoft.com/office/powerpoint/2010/main" val="2202896383"/>
              </p:ext>
            </p:extLst>
          </p:nvPr>
        </p:nvGraphicFramePr>
        <p:xfrm>
          <a:off x="609600" y="1466850"/>
          <a:ext cx="10972800" cy="4000500"/>
        </p:xfrm>
        <a:graphic>
          <a:graphicData uri="http://schemas.openxmlformats.org/drawingml/2006/table">
            <a:tbl>
              <a:tblPr/>
              <a:tblGrid>
                <a:gridCol w="3067050"/>
                <a:gridCol w="3686175"/>
                <a:gridCol w="4219575"/>
              </a:tblGrid>
              <a:tr h="800100">
                <a:tc>
                  <a:txBody>
                    <a:bodyPr/>
                    <a:lstStyle/>
                    <a:p>
                      <a:r>
                        <a:rPr lang="es-MX" sz="1875" b="1" dirty="0" smtClean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Reporte</a:t>
                      </a:r>
                      <a:endParaRPr sz="1875" b="1" dirty="0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L="152400" marR="152400" marT="114300" marB="114300" anchor="ctr">
                    <a:solidFill>
                      <a:srgbClr val="2372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Rango obligatorio</a:t>
                      </a:r>
                    </a:p>
                  </a:txBody>
                  <a:tcPr marL="152400" marR="152400" marT="114300" marB="114300" anchor="ctr">
                    <a:solidFill>
                      <a:srgbClr val="2372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75" b="1" dirty="0" smtClean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Filtros </a:t>
                      </a:r>
                      <a:endParaRPr sz="1875" b="1" dirty="0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L="152400" marR="152400" marT="114300" marB="114300" anchor="ctr">
                    <a:solidFill>
                      <a:srgbClr val="23726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Citas</a:t>
                      </a: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Fecha de la cita</a:t>
                      </a: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Veterinario, servicio y estado</a:t>
                      </a: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Mascotas atendidas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Fecha de atención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75" b="0" dirty="0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Mascota</a:t>
                      </a:r>
                      <a:r>
                        <a:rPr sz="1875" b="0" dirty="0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, </a:t>
                      </a:r>
                      <a:r>
                        <a:rPr sz="1875" b="0" dirty="0" err="1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veterinario</a:t>
                      </a:r>
                      <a:r>
                        <a:rPr sz="1875" b="0" dirty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y </a:t>
                      </a:r>
                      <a:r>
                        <a:rPr sz="1875" b="0" dirty="0" err="1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servicio</a:t>
                      </a:r>
                      <a:endParaRPr sz="1875" b="0" dirty="0">
                        <a:solidFill>
                          <a:srgbClr val="183C3A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Consultas médicas</a:t>
                      </a: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Fecha de consulta</a:t>
                      </a: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Mascota, veterinario y diagnóstico</a:t>
                      </a:r>
                    </a:p>
                  </a:txBody>
                  <a:tcPr marL="152400" marR="152400" marT="114300" marB="114300" anchor="ctr">
                    <a:solidFill>
                      <a:srgbClr val="EFF6F2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Ingresos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Fecha efectiva del pago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 err="1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Cliente</a:t>
                      </a:r>
                      <a:r>
                        <a:rPr sz="1875" b="0" dirty="0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,</a:t>
                      </a:r>
                      <a:r>
                        <a:rPr lang="es-MX" sz="1875" b="0" dirty="0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estado,</a:t>
                      </a:r>
                      <a:r>
                        <a:rPr sz="1875" b="0" dirty="0" smtClean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1875" b="0" dirty="0" err="1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servicio</a:t>
                      </a:r>
                      <a:r>
                        <a:rPr sz="1875" b="0" dirty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y </a:t>
                      </a:r>
                      <a:r>
                        <a:rPr sz="1875" b="0" dirty="0" err="1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método</a:t>
                      </a:r>
                      <a:r>
                        <a:rPr sz="1875" b="0" dirty="0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de </a:t>
                      </a:r>
                      <a:r>
                        <a:rPr sz="1875" b="0" dirty="0" err="1">
                          <a:solidFill>
                            <a:srgbClr val="183C3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pago</a:t>
                      </a:r>
                      <a:endParaRPr sz="1875" b="0" dirty="0">
                        <a:solidFill>
                          <a:srgbClr val="183C3A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lo el Administrador los generará.">
            <a:extLst>
              <a:ext uri="{FF2B5EF4-FFF2-40B4-BE49-F238E27FC236}">
                <a16:creationId xmlns:a16="http://schemas.microsoft.com/office/drawing/2014/main" xmlns="" id="{48C99170-B94D-430E-9205-5896C2EDE7DC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858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1">
                <a:solidFill>
                  <a:srgbClr val="23726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3726A"/>
                </a:solidFill>
                <a:latin typeface="DejaVu Sans"/>
                <a:ea typeface="DejaVu Sans"/>
                <a:cs typeface="DejaVu Sans"/>
              </a:rPr>
              <a:t>Solo el Administrador los generará. Los ingresos sumarán pagos Pagados.</a:t>
            </a:r>
          </a:p>
        </p:txBody>
      </p:sp>
    </p:spTree>
    <p:extLst>
      <p:ext uri="{BB962C8B-B14F-4D97-AF65-F5344CB8AC3E}">
        <p14:creationId xmlns:p14="http://schemas.microsoft.com/office/powerpoint/2010/main" val="1118380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title">
            <a:extLst>
              <a:ext uri="{FF2B5EF4-FFF2-40B4-BE49-F238E27FC236}">
                <a16:creationId xmlns:a16="http://schemas.microsoft.com/office/drawing/2014/main" xmlns="" id="{CA06DFE1-BF3A-4A83-99A4-A09BDC7560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450" b="1">
                <a:solidFill>
                  <a:srgbClr val="153E3B"/>
                </a:solidFill>
                <a:latin typeface="DejaVu Sans"/>
                <a:ea typeface="DejaVu Sans"/>
                <a:cs typeface="DejaVu Sans"/>
              </a:defRPr>
            </a:pPr>
            <a:r>
              <a:rPr lang="es-MX" sz="3450" b="1" dirty="0" smtClean="0">
                <a:solidFill>
                  <a:srgbClr val="153E3B"/>
                </a:solidFill>
                <a:latin typeface="DejaVu Sans"/>
                <a:ea typeface="DejaVu Sans"/>
                <a:cs typeface="DejaVu Sans"/>
              </a:rPr>
              <a:t>Pantallas</a:t>
            </a:r>
            <a:r>
              <a:rPr sz="3450" b="1" dirty="0" smtClean="0">
                <a:solidFill>
                  <a:srgbClr val="153E3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3450" b="1" dirty="0">
                <a:solidFill>
                  <a:srgbClr val="153E3B"/>
                </a:solidFill>
                <a:latin typeface="DejaVu Sans"/>
                <a:ea typeface="DejaVu Sans"/>
                <a:cs typeface="DejaVu Sans"/>
              </a:rPr>
              <a:t>del </a:t>
            </a:r>
            <a:r>
              <a:rPr lang="es-MX" sz="3450" b="1" dirty="0" smtClean="0">
                <a:solidFill>
                  <a:srgbClr val="153E3B"/>
                </a:solidFill>
                <a:latin typeface="DejaVu Sans"/>
                <a:ea typeface="DejaVu Sans"/>
                <a:cs typeface="DejaVu Sans"/>
              </a:rPr>
              <a:t>Administrador</a:t>
            </a:r>
            <a:endParaRPr sz="3450" b="1" dirty="0">
              <a:solidFill>
                <a:srgbClr val="153E3B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85" y="1868994"/>
            <a:ext cx="5743350" cy="3809061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475" y="1841677"/>
            <a:ext cx="5743350" cy="383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958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title">
            <a:extLst>
              <a:ext uri="{FF2B5EF4-FFF2-40B4-BE49-F238E27FC236}">
                <a16:creationId xmlns:a16="http://schemas.microsoft.com/office/drawing/2014/main" xmlns="" id="{CA06DFE1-BF3A-4A83-99A4-A09BDC7560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450" b="1">
                <a:solidFill>
                  <a:srgbClr val="153E3B"/>
                </a:solidFill>
                <a:latin typeface="DejaVu Sans"/>
                <a:ea typeface="DejaVu Sans"/>
                <a:cs typeface="DejaVu Sans"/>
              </a:defRPr>
            </a:pPr>
            <a:r>
              <a:rPr lang="es-MX" sz="3450" b="1" dirty="0" smtClean="0">
                <a:solidFill>
                  <a:srgbClr val="153E3B"/>
                </a:solidFill>
                <a:latin typeface="DejaVu Sans"/>
                <a:ea typeface="DejaVu Sans"/>
                <a:cs typeface="DejaVu Sans"/>
              </a:rPr>
              <a:t>Pantallas</a:t>
            </a:r>
            <a:r>
              <a:rPr sz="3450" b="1" dirty="0" smtClean="0">
                <a:solidFill>
                  <a:srgbClr val="153E3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3450" b="1" dirty="0">
                <a:solidFill>
                  <a:srgbClr val="153E3B"/>
                </a:solidFill>
                <a:latin typeface="DejaVu Sans"/>
                <a:ea typeface="DejaVu Sans"/>
                <a:cs typeface="DejaVu Sans"/>
              </a:rPr>
              <a:t>del </a:t>
            </a:r>
            <a:r>
              <a:rPr lang="es-MX" sz="3450" b="1" dirty="0" smtClean="0">
                <a:solidFill>
                  <a:srgbClr val="153E3B"/>
                </a:solidFill>
                <a:latin typeface="DejaVu Sans"/>
                <a:ea typeface="DejaVu Sans"/>
                <a:cs typeface="DejaVu Sans"/>
              </a:rPr>
              <a:t>Administrador</a:t>
            </a:r>
            <a:endParaRPr sz="3450" b="1" dirty="0">
              <a:solidFill>
                <a:srgbClr val="153E3B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85" y="1868994"/>
            <a:ext cx="5962290" cy="3977434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475" y="1894858"/>
            <a:ext cx="5962290" cy="395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70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title">
            <a:extLst>
              <a:ext uri="{FF2B5EF4-FFF2-40B4-BE49-F238E27FC236}">
                <a16:creationId xmlns:a16="http://schemas.microsoft.com/office/drawing/2014/main" xmlns="" id="{CA06DFE1-BF3A-4A83-99A4-A09BDC7560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450" b="1">
                <a:solidFill>
                  <a:srgbClr val="153E3B"/>
                </a:solidFill>
                <a:latin typeface="DejaVu Sans"/>
                <a:ea typeface="DejaVu Sans"/>
                <a:cs typeface="DejaVu Sans"/>
              </a:defRPr>
            </a:pPr>
            <a:r>
              <a:rPr lang="es-MX" sz="3450" b="1" dirty="0" smtClean="0">
                <a:solidFill>
                  <a:srgbClr val="153E3B"/>
                </a:solidFill>
                <a:latin typeface="DejaVu Sans"/>
                <a:ea typeface="DejaVu Sans"/>
                <a:cs typeface="DejaVu Sans"/>
              </a:rPr>
              <a:t>Pantallas</a:t>
            </a:r>
            <a:r>
              <a:rPr sz="3450" b="1" dirty="0" smtClean="0">
                <a:solidFill>
                  <a:srgbClr val="153E3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3450" b="1" dirty="0">
                <a:solidFill>
                  <a:srgbClr val="153E3B"/>
                </a:solidFill>
                <a:latin typeface="DejaVu Sans"/>
                <a:ea typeface="DejaVu Sans"/>
                <a:cs typeface="DejaVu Sans"/>
              </a:rPr>
              <a:t>del </a:t>
            </a:r>
            <a:r>
              <a:rPr lang="es-MX" sz="3450" b="1" dirty="0" smtClean="0">
                <a:solidFill>
                  <a:srgbClr val="153E3B"/>
                </a:solidFill>
                <a:latin typeface="DejaVu Sans"/>
                <a:ea typeface="DejaVu Sans"/>
                <a:cs typeface="DejaVu Sans"/>
              </a:rPr>
              <a:t>Administrador</a:t>
            </a:r>
            <a:endParaRPr sz="3450" b="1" dirty="0">
              <a:solidFill>
                <a:srgbClr val="153E3B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526" y="1276216"/>
            <a:ext cx="7865235" cy="524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961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title">
            <a:extLst>
              <a:ext uri="{FF2B5EF4-FFF2-40B4-BE49-F238E27FC236}">
                <a16:creationId xmlns:a16="http://schemas.microsoft.com/office/drawing/2014/main" xmlns="" id="{797156C0-A8CB-498E-A0A3-226B892894D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450" b="1">
                <a:solidFill>
                  <a:srgbClr val="153E3B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53E3B"/>
                </a:solidFill>
                <a:latin typeface="DejaVu Sans"/>
                <a:ea typeface="DejaVu Sans"/>
                <a:cs typeface="DejaVu Sans"/>
              </a:rPr>
              <a:t>Pantallas del Cliente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10" y="1787505"/>
            <a:ext cx="5864491" cy="394492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628" y="1740207"/>
            <a:ext cx="5852240" cy="399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765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title">
            <a:extLst>
              <a:ext uri="{FF2B5EF4-FFF2-40B4-BE49-F238E27FC236}">
                <a16:creationId xmlns:a16="http://schemas.microsoft.com/office/drawing/2014/main" xmlns="" id="{797156C0-A8CB-498E-A0A3-226B892894D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450" b="1">
                <a:solidFill>
                  <a:srgbClr val="153E3B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53E3B"/>
                </a:solidFill>
                <a:latin typeface="DejaVu Sans"/>
                <a:ea typeface="DejaVu Sans"/>
                <a:cs typeface="DejaVu Sans"/>
              </a:rPr>
              <a:t>Pantallas del Cliente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28" y="1703455"/>
            <a:ext cx="5930447" cy="3829287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3"/>
          <a:stretch/>
        </p:blipFill>
        <p:spPr>
          <a:xfrm>
            <a:off x="5990158" y="1716334"/>
            <a:ext cx="5930447" cy="383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775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title">
            <a:extLst>
              <a:ext uri="{FF2B5EF4-FFF2-40B4-BE49-F238E27FC236}">
                <a16:creationId xmlns:a16="http://schemas.microsoft.com/office/drawing/2014/main" xmlns="" id="{EF3A9D37-741B-4AE3-9E43-F345E6C98922}"/>
              </a:ext>
            </a:extLst>
          </p:cNvPr>
          <p:cNvSpPr>
            <a:spLocks noGrp="1"/>
          </p:cNvSpPr>
          <p:nvPr/>
        </p:nvSpPr>
        <p:spPr>
          <a:xfrm>
            <a:off x="1735697" y="3059270"/>
            <a:ext cx="8779098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es-MX" sz="4000" b="1" dirty="0" smtClean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Gracias por su atención.</a:t>
            </a:r>
            <a:endParaRPr sz="400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465321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124</TotalTime>
  <Words>456</Words>
  <Application>Microsoft Office PowerPoint</Application>
  <DocSecurity>0</DocSecurity>
  <PresentationFormat>Panorámica</PresentationFormat>
  <Paragraphs>92</Paragraphs>
  <Slides>15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Aptos</vt:lpstr>
      <vt:lpstr>Arial</vt:lpstr>
      <vt:lpstr>DejaVu Sans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Joel Herrera</cp:lastModifiedBy>
  <cp:revision>11</cp:revision>
  <dcterms:created xsi:type="dcterms:W3CDTF">2026-10-01T05:14:25Z</dcterms:created>
  <dcterms:modified xsi:type="dcterms:W3CDTF">2026-10-01T08:39:31Z</dcterms:modified>
</cp:coreProperties>
</file>